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aa739531_0_4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5aa739531_0_4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5aa739531_0_9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5aa739531_0_9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651fdbd91_0_0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651fdbd91_0_0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5aa739531_0_29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a5aa739531_0_29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aa739531_0_14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a5aa739531_0_14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aa739531_0_19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a5aa739531_0_19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aa739531_0_24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a5aa739531_0_24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5aa739531_0_34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a5aa739531_0_34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5aa739531_0_39:notes"/>
          <p:cNvSpPr/>
          <p:nvPr>
            <p:ph idx="2" type="sldImg"/>
          </p:nvPr>
        </p:nvSpPr>
        <p:spPr>
          <a:xfrm>
            <a:off x="129968" y="554493"/>
            <a:ext cx="2079600" cy="277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a5aa739531_0_39:notes"/>
          <p:cNvSpPr txBox="1"/>
          <p:nvPr>
            <p:ph idx="1" type="body"/>
          </p:nvPr>
        </p:nvSpPr>
        <p:spPr>
          <a:xfrm>
            <a:off x="233943" y="3511789"/>
            <a:ext cx="18714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- 2x Placeholders Horizontal with bullets">
  <p:cSld name="Text - 2x Placeholders Horizontal with bulle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57200" y="955875"/>
            <a:ext cx="3970200" cy="21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/>
            </a:lvl2pPr>
            <a:lvl3pPr indent="-29083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Char char="■"/>
              <a:defRPr/>
            </a:lvl3pPr>
            <a:lvl4pPr indent="-290830" lvl="3" marL="1828800" algn="l">
              <a:spcBef>
                <a:spcPts val="600"/>
              </a:spcBef>
              <a:spcAft>
                <a:spcPts val="0"/>
              </a:spcAft>
              <a:buSzPts val="980"/>
              <a:buChar char="●"/>
              <a:defRPr/>
            </a:lvl4pPr>
            <a:lvl5pPr indent="-290830" lvl="4" marL="2286000" algn="l">
              <a:spcBef>
                <a:spcPts val="600"/>
              </a:spcBef>
              <a:spcAft>
                <a:spcPts val="0"/>
              </a:spcAft>
              <a:buSzPts val="980"/>
              <a:buChar char="○"/>
              <a:defRPr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4716464" y="955875"/>
            <a:ext cx="3972900" cy="21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/>
            </a:lvl2pPr>
            <a:lvl3pPr indent="-29083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Char char="■"/>
              <a:defRPr/>
            </a:lvl3pPr>
            <a:lvl4pPr indent="-290830" lvl="3" marL="1828800" algn="l">
              <a:spcBef>
                <a:spcPts val="600"/>
              </a:spcBef>
              <a:spcAft>
                <a:spcPts val="0"/>
              </a:spcAft>
              <a:buSzPts val="980"/>
              <a:buChar char="●"/>
              <a:defRPr/>
            </a:lvl4pPr>
            <a:lvl5pPr indent="-290830" lvl="4" marL="2286000" algn="l">
              <a:spcBef>
                <a:spcPts val="600"/>
              </a:spcBef>
              <a:spcAft>
                <a:spcPts val="0"/>
              </a:spcAft>
              <a:buSzPts val="980"/>
              <a:buChar char="○"/>
              <a:defRPr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6572987" y="4961446"/>
            <a:ext cx="17958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32402" y="4948623"/>
            <a:ext cx="1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17328" algn="l">
              <a:lnSpc>
                <a:spcPct val="125000"/>
              </a:lnSpc>
              <a:spcBef>
                <a:spcPts val="0"/>
              </a:spcBef>
              <a:buNone/>
              <a:defRPr/>
            </a:lvl1pPr>
            <a:lvl2pPr indent="0" lvl="1" marL="17328" algn="l">
              <a:lnSpc>
                <a:spcPct val="125000"/>
              </a:lnSpc>
              <a:spcBef>
                <a:spcPts val="0"/>
              </a:spcBef>
              <a:buNone/>
              <a:defRPr/>
            </a:lvl2pPr>
            <a:lvl3pPr indent="0" lvl="2" marL="17328" algn="l">
              <a:lnSpc>
                <a:spcPct val="125000"/>
              </a:lnSpc>
              <a:spcBef>
                <a:spcPts val="0"/>
              </a:spcBef>
              <a:buNone/>
              <a:defRPr/>
            </a:lvl3pPr>
            <a:lvl4pPr indent="0" lvl="3" marL="17328" algn="l">
              <a:lnSpc>
                <a:spcPct val="125000"/>
              </a:lnSpc>
              <a:spcBef>
                <a:spcPts val="0"/>
              </a:spcBef>
              <a:buNone/>
              <a:defRPr/>
            </a:lvl4pPr>
            <a:lvl5pPr indent="0" lvl="4" marL="17328" algn="l">
              <a:lnSpc>
                <a:spcPct val="125000"/>
              </a:lnSpc>
              <a:spcBef>
                <a:spcPts val="0"/>
              </a:spcBef>
              <a:buNone/>
              <a:defRPr/>
            </a:lvl5pPr>
            <a:lvl6pPr indent="0" lvl="5" marL="17328" algn="l">
              <a:lnSpc>
                <a:spcPct val="125000"/>
              </a:lnSpc>
              <a:spcBef>
                <a:spcPts val="0"/>
              </a:spcBef>
              <a:buNone/>
              <a:defRPr/>
            </a:lvl6pPr>
            <a:lvl7pPr indent="0" lvl="6" marL="17328" algn="l">
              <a:lnSpc>
                <a:spcPct val="125000"/>
              </a:lnSpc>
              <a:spcBef>
                <a:spcPts val="0"/>
              </a:spcBef>
              <a:buNone/>
              <a:defRPr/>
            </a:lvl7pPr>
            <a:lvl8pPr indent="0" lvl="7" marL="17328" algn="l">
              <a:lnSpc>
                <a:spcPct val="125000"/>
              </a:lnSpc>
              <a:spcBef>
                <a:spcPts val="0"/>
              </a:spcBef>
              <a:buNone/>
              <a:defRPr/>
            </a:lvl8pPr>
            <a:lvl9pPr indent="0" lvl="8" marL="17328" algn="l">
              <a:lnSpc>
                <a:spcPct val="125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17328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RHS Image with bullets">
  <p:cSld name="Text and RHS Image with bulle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57200" y="955875"/>
            <a:ext cx="3970200" cy="21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/>
            </a:lvl2pPr>
            <a:lvl3pPr indent="-29083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Char char="■"/>
              <a:defRPr/>
            </a:lvl3pPr>
            <a:lvl4pPr indent="-290830" lvl="3" marL="1828800" algn="l">
              <a:spcBef>
                <a:spcPts val="600"/>
              </a:spcBef>
              <a:spcAft>
                <a:spcPts val="0"/>
              </a:spcAft>
              <a:buSzPts val="980"/>
              <a:buChar char="●"/>
              <a:defRPr/>
            </a:lvl4pPr>
            <a:lvl5pPr indent="-290830" lvl="4" marL="2286000" algn="l">
              <a:spcBef>
                <a:spcPts val="600"/>
              </a:spcBef>
              <a:spcAft>
                <a:spcPts val="0"/>
              </a:spcAft>
              <a:buSzPts val="980"/>
              <a:buChar char="○"/>
              <a:defRPr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58" name="Google Shape;58;p14"/>
          <p:cNvSpPr/>
          <p:nvPr>
            <p:ph idx="2" type="pic"/>
          </p:nvPr>
        </p:nvSpPr>
        <p:spPr>
          <a:xfrm>
            <a:off x="4718116" y="303214"/>
            <a:ext cx="3968700" cy="395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226792"/>
            <a:ext cx="3968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6572987" y="4961446"/>
            <a:ext cx="17958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2402" y="4948623"/>
            <a:ext cx="1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17328" algn="l">
              <a:lnSpc>
                <a:spcPct val="125000"/>
              </a:lnSpc>
              <a:spcBef>
                <a:spcPts val="0"/>
              </a:spcBef>
              <a:buNone/>
              <a:defRPr/>
            </a:lvl1pPr>
            <a:lvl2pPr indent="0" lvl="1" marL="17328" algn="l">
              <a:lnSpc>
                <a:spcPct val="125000"/>
              </a:lnSpc>
              <a:spcBef>
                <a:spcPts val="0"/>
              </a:spcBef>
              <a:buNone/>
              <a:defRPr/>
            </a:lvl2pPr>
            <a:lvl3pPr indent="0" lvl="2" marL="17328" algn="l">
              <a:lnSpc>
                <a:spcPct val="125000"/>
              </a:lnSpc>
              <a:spcBef>
                <a:spcPts val="0"/>
              </a:spcBef>
              <a:buNone/>
              <a:defRPr/>
            </a:lvl3pPr>
            <a:lvl4pPr indent="0" lvl="3" marL="17328" algn="l">
              <a:lnSpc>
                <a:spcPct val="125000"/>
              </a:lnSpc>
              <a:spcBef>
                <a:spcPts val="0"/>
              </a:spcBef>
              <a:buNone/>
              <a:defRPr/>
            </a:lvl4pPr>
            <a:lvl5pPr indent="0" lvl="4" marL="17328" algn="l">
              <a:lnSpc>
                <a:spcPct val="125000"/>
              </a:lnSpc>
              <a:spcBef>
                <a:spcPts val="0"/>
              </a:spcBef>
              <a:buNone/>
              <a:defRPr/>
            </a:lvl5pPr>
            <a:lvl6pPr indent="0" lvl="5" marL="17328" algn="l">
              <a:lnSpc>
                <a:spcPct val="125000"/>
              </a:lnSpc>
              <a:spcBef>
                <a:spcPts val="0"/>
              </a:spcBef>
              <a:buNone/>
              <a:defRPr/>
            </a:lvl6pPr>
            <a:lvl7pPr indent="0" lvl="6" marL="17328" algn="l">
              <a:lnSpc>
                <a:spcPct val="125000"/>
              </a:lnSpc>
              <a:spcBef>
                <a:spcPts val="0"/>
              </a:spcBef>
              <a:buNone/>
              <a:defRPr/>
            </a:lvl7pPr>
            <a:lvl8pPr indent="0" lvl="7" marL="17328" algn="l">
              <a:lnSpc>
                <a:spcPct val="125000"/>
              </a:lnSpc>
              <a:spcBef>
                <a:spcPts val="0"/>
              </a:spcBef>
              <a:buNone/>
              <a:defRPr/>
            </a:lvl8pPr>
            <a:lvl9pPr indent="0" lvl="8" marL="17328" algn="l">
              <a:lnSpc>
                <a:spcPct val="125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17328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- 1 Column No Subtitle with bullets">
  <p:cSld name="Text - 1 Column No Subtitle with bulle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955875"/>
            <a:ext cx="8218800" cy="3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  <a:defRPr/>
            </a:lvl1pPr>
            <a:lvl2pPr indent="-317500" lvl="1" marL="914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/>
            </a:lvl2pPr>
            <a:lvl3pPr indent="-29083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Char char="■"/>
              <a:defRPr/>
            </a:lvl3pPr>
            <a:lvl4pPr indent="-290830" lvl="3" marL="18288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Char char="●"/>
              <a:defRPr/>
            </a:lvl4pPr>
            <a:lvl5pPr indent="-290830" lvl="4" marL="22860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Char char="○"/>
              <a:defRPr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6572987" y="4961446"/>
            <a:ext cx="17958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532402" y="4948623"/>
            <a:ext cx="1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17328" algn="l">
              <a:lnSpc>
                <a:spcPct val="125000"/>
              </a:lnSpc>
              <a:spcBef>
                <a:spcPts val="0"/>
              </a:spcBef>
              <a:buNone/>
              <a:defRPr/>
            </a:lvl1pPr>
            <a:lvl2pPr indent="0" lvl="1" marL="17328" algn="l">
              <a:lnSpc>
                <a:spcPct val="125000"/>
              </a:lnSpc>
              <a:spcBef>
                <a:spcPts val="0"/>
              </a:spcBef>
              <a:buNone/>
              <a:defRPr/>
            </a:lvl2pPr>
            <a:lvl3pPr indent="0" lvl="2" marL="17328" algn="l">
              <a:lnSpc>
                <a:spcPct val="125000"/>
              </a:lnSpc>
              <a:spcBef>
                <a:spcPts val="0"/>
              </a:spcBef>
              <a:buNone/>
              <a:defRPr/>
            </a:lvl3pPr>
            <a:lvl4pPr indent="0" lvl="3" marL="17328" algn="l">
              <a:lnSpc>
                <a:spcPct val="125000"/>
              </a:lnSpc>
              <a:spcBef>
                <a:spcPts val="0"/>
              </a:spcBef>
              <a:buNone/>
              <a:defRPr/>
            </a:lvl4pPr>
            <a:lvl5pPr indent="0" lvl="4" marL="17328" algn="l">
              <a:lnSpc>
                <a:spcPct val="125000"/>
              </a:lnSpc>
              <a:spcBef>
                <a:spcPts val="0"/>
              </a:spcBef>
              <a:buNone/>
              <a:defRPr/>
            </a:lvl5pPr>
            <a:lvl6pPr indent="0" lvl="5" marL="17328" algn="l">
              <a:lnSpc>
                <a:spcPct val="125000"/>
              </a:lnSpc>
              <a:spcBef>
                <a:spcPts val="0"/>
              </a:spcBef>
              <a:buNone/>
              <a:defRPr/>
            </a:lvl6pPr>
            <a:lvl7pPr indent="0" lvl="6" marL="17328" algn="l">
              <a:lnSpc>
                <a:spcPct val="125000"/>
              </a:lnSpc>
              <a:spcBef>
                <a:spcPts val="0"/>
              </a:spcBef>
              <a:buNone/>
              <a:defRPr/>
            </a:lvl7pPr>
            <a:lvl8pPr indent="0" lvl="7" marL="17328" algn="l">
              <a:lnSpc>
                <a:spcPct val="125000"/>
              </a:lnSpc>
              <a:spcBef>
                <a:spcPts val="0"/>
              </a:spcBef>
              <a:buNone/>
              <a:defRPr/>
            </a:lvl8pPr>
            <a:lvl9pPr indent="0" lvl="8" marL="17328" algn="l">
              <a:lnSpc>
                <a:spcPct val="125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17328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White 1" showMasterSp="0">
  <p:cSld name="Divider - White 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 rot="9859809">
            <a:off x="4773209" y="-263473"/>
            <a:ext cx="4412503" cy="4306819"/>
          </a:xfrm>
          <a:custGeom>
            <a:rect b="b" l="l" r="r" t="t"/>
            <a:pathLst>
              <a:path extrusionOk="0" h="4308314" w="4414034">
                <a:moveTo>
                  <a:pt x="539268" y="3649716"/>
                </a:moveTo>
                <a:lnTo>
                  <a:pt x="503975" y="3610885"/>
                </a:lnTo>
                <a:cubicBezTo>
                  <a:pt x="189132" y="3229382"/>
                  <a:pt x="0" y="2740287"/>
                  <a:pt x="0" y="2207017"/>
                </a:cubicBezTo>
                <a:cubicBezTo>
                  <a:pt x="0" y="2130835"/>
                  <a:pt x="3859" y="2055556"/>
                  <a:pt x="11394" y="1981362"/>
                </a:cubicBezTo>
                <a:lnTo>
                  <a:pt x="18855" y="1932476"/>
                </a:lnTo>
                <a:lnTo>
                  <a:pt x="197004" y="1299026"/>
                </a:lnTo>
                <a:lnTo>
                  <a:pt x="266375" y="1155021"/>
                </a:lnTo>
                <a:cubicBezTo>
                  <a:pt x="640110" y="467039"/>
                  <a:pt x="1369022" y="0"/>
                  <a:pt x="2207017" y="0"/>
                </a:cubicBezTo>
                <a:cubicBezTo>
                  <a:pt x="3425919" y="0"/>
                  <a:pt x="4414034" y="988115"/>
                  <a:pt x="4414034" y="2207017"/>
                </a:cubicBezTo>
                <a:cubicBezTo>
                  <a:pt x="4414034" y="3121193"/>
                  <a:pt x="3858219" y="3905552"/>
                  <a:pt x="3066087" y="4240596"/>
                </a:cubicBezTo>
                <a:lnTo>
                  <a:pt x="2881066" y="4308314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8000">
                <a:srgbClr val="4E2DF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 rot="612915">
            <a:off x="6071586" y="811317"/>
            <a:ext cx="3431537" cy="4366768"/>
          </a:xfrm>
          <a:custGeom>
            <a:rect b="b" l="l" r="r" t="t"/>
            <a:pathLst>
              <a:path extrusionOk="0" h="4362993" w="3428570">
                <a:moveTo>
                  <a:pt x="1762226" y="44839"/>
                </a:moveTo>
                <a:cubicBezTo>
                  <a:pt x="1905897" y="15439"/>
                  <a:pt x="2054654" y="0"/>
                  <a:pt x="2207017" y="0"/>
                </a:cubicBezTo>
                <a:cubicBezTo>
                  <a:pt x="2359380" y="0"/>
                  <a:pt x="2508136" y="15439"/>
                  <a:pt x="2651809" y="44839"/>
                </a:cubicBezTo>
                <a:lnTo>
                  <a:pt x="2711531" y="60195"/>
                </a:lnTo>
                <a:lnTo>
                  <a:pt x="3428570" y="4044650"/>
                </a:lnTo>
                <a:lnTo>
                  <a:pt x="3395525" y="4064725"/>
                </a:lnTo>
                <a:lnTo>
                  <a:pt x="1738106" y="4362993"/>
                </a:lnTo>
                <a:lnTo>
                  <a:pt x="1550718" y="4314811"/>
                </a:lnTo>
                <a:cubicBezTo>
                  <a:pt x="652311" y="4035377"/>
                  <a:pt x="0" y="3197375"/>
                  <a:pt x="0" y="2207017"/>
                </a:cubicBezTo>
                <a:cubicBezTo>
                  <a:pt x="0" y="1140478"/>
                  <a:pt x="756526" y="250635"/>
                  <a:pt x="1762226" y="4483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8000">
                <a:srgbClr val="4E2DF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457202" y="1413641"/>
            <a:ext cx="33267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marR="231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6"/>
          <p:cNvSpPr/>
          <p:nvPr/>
        </p:nvSpPr>
        <p:spPr>
          <a:xfrm>
            <a:off x="476538" y="1345311"/>
            <a:ext cx="935250" cy="0"/>
          </a:xfrm>
          <a:custGeom>
            <a:rect b="b" l="l" r="r" t="t"/>
            <a:pathLst>
              <a:path extrusionOk="0" h="120000" w="2055495">
                <a:moveTo>
                  <a:pt x="0" y="0"/>
                </a:moveTo>
                <a:lnTo>
                  <a:pt x="2054911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9816353" y="329901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6572987" y="4961446"/>
            <a:ext cx="17958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532402" y="4948623"/>
            <a:ext cx="1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17328" algn="l">
              <a:lnSpc>
                <a:spcPct val="125000"/>
              </a:lnSpc>
              <a:spcBef>
                <a:spcPts val="0"/>
              </a:spcBef>
              <a:buNone/>
              <a:defRPr/>
            </a:lvl1pPr>
            <a:lvl2pPr indent="0" lvl="1" marL="17328" algn="l">
              <a:lnSpc>
                <a:spcPct val="125000"/>
              </a:lnSpc>
              <a:spcBef>
                <a:spcPts val="0"/>
              </a:spcBef>
              <a:buNone/>
              <a:defRPr/>
            </a:lvl2pPr>
            <a:lvl3pPr indent="0" lvl="2" marL="17328" algn="l">
              <a:lnSpc>
                <a:spcPct val="125000"/>
              </a:lnSpc>
              <a:spcBef>
                <a:spcPts val="0"/>
              </a:spcBef>
              <a:buNone/>
              <a:defRPr/>
            </a:lvl3pPr>
            <a:lvl4pPr indent="0" lvl="3" marL="17328" algn="l">
              <a:lnSpc>
                <a:spcPct val="125000"/>
              </a:lnSpc>
              <a:spcBef>
                <a:spcPts val="0"/>
              </a:spcBef>
              <a:buNone/>
              <a:defRPr/>
            </a:lvl4pPr>
            <a:lvl5pPr indent="0" lvl="4" marL="17328" algn="l">
              <a:lnSpc>
                <a:spcPct val="125000"/>
              </a:lnSpc>
              <a:spcBef>
                <a:spcPts val="0"/>
              </a:spcBef>
              <a:buNone/>
              <a:defRPr/>
            </a:lvl5pPr>
            <a:lvl6pPr indent="0" lvl="5" marL="17328" algn="l">
              <a:lnSpc>
                <a:spcPct val="125000"/>
              </a:lnSpc>
              <a:spcBef>
                <a:spcPts val="0"/>
              </a:spcBef>
              <a:buNone/>
              <a:defRPr/>
            </a:lvl6pPr>
            <a:lvl7pPr indent="0" lvl="6" marL="17328" algn="l">
              <a:lnSpc>
                <a:spcPct val="125000"/>
              </a:lnSpc>
              <a:spcBef>
                <a:spcPts val="0"/>
              </a:spcBef>
              <a:buNone/>
              <a:defRPr/>
            </a:lvl7pPr>
            <a:lvl8pPr indent="0" lvl="7" marL="17328" algn="l">
              <a:lnSpc>
                <a:spcPct val="125000"/>
              </a:lnSpc>
              <a:spcBef>
                <a:spcPts val="0"/>
              </a:spcBef>
              <a:buNone/>
              <a:defRPr/>
            </a:lvl8pPr>
            <a:lvl9pPr indent="0" lvl="8" marL="17328" algn="l">
              <a:lnSpc>
                <a:spcPct val="125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17328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8456778" y="4961446"/>
            <a:ext cx="0" cy="89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eloper.android.com/compose" TargetMode="External"/><Relationship Id="rId4" Type="http://schemas.openxmlformats.org/officeDocument/2006/relationships/hyperlink" Target="https://insert-koin.io/" TargetMode="External"/><Relationship Id="rId5" Type="http://schemas.openxmlformats.org/officeDocument/2006/relationships/hyperlink" Target="https://github.com/coil-kt/coil#jetpack-compose" TargetMode="External"/><Relationship Id="rId6" Type="http://schemas.openxmlformats.org/officeDocument/2006/relationships/hyperlink" Target="https://square.github.io/retrofit/" TargetMode="External"/><Relationship Id="rId7" Type="http://schemas.openxmlformats.org/officeDocument/2006/relationships/hyperlink" Target="https://ktor.io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0" y="1586450"/>
            <a:ext cx="9144000" cy="18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Best Practices in Semestral Projects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3437100"/>
            <a:ext cx="8520600" cy="5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5486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chemeClr val="dk1"/>
                </a:solidFill>
              </a:rPr>
              <a:t>Android Lecture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41750" y="4663600"/>
            <a:ext cx="4809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chemeClr val="dk2"/>
                </a:solidFill>
              </a:rPr>
              <a:t>Simona Kurňavová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650" y="0"/>
            <a:ext cx="3136676" cy="16801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457200" y="955875"/>
            <a:ext cx="8218800" cy="3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85750" lvl="0" marL="4191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sk">
                <a:solidFill>
                  <a:schemeClr val="dk1"/>
                </a:solidFill>
              </a:rPr>
              <a:t>Use git and gitflow</a:t>
            </a:r>
            <a:endParaRPr>
              <a:solidFill>
                <a:schemeClr val="dk1"/>
              </a:solidFill>
            </a:endParaRPr>
          </a:p>
          <a:p>
            <a:pPr indent="-285750" lvl="0" marL="4191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sk">
                <a:solidFill>
                  <a:schemeClr val="dk1"/>
                </a:solidFill>
              </a:rPr>
              <a:t>In a group of people: do code reviews</a:t>
            </a:r>
            <a:endParaRPr>
              <a:solidFill>
                <a:schemeClr val="dk1"/>
              </a:solidFill>
            </a:endParaRPr>
          </a:p>
          <a:p>
            <a:pPr indent="-285750" lvl="0" marL="419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sk">
                <a:solidFill>
                  <a:schemeClr val="dk1"/>
                </a:solidFill>
              </a:rPr>
              <a:t>Ensure your code is readable, uniformly formatted and free of unused classes/methods/variables - utilise static analysis tools (lint, detekt)</a:t>
            </a:r>
            <a:endParaRPr>
              <a:solidFill>
                <a:schemeClr val="dk1"/>
              </a:solidFill>
            </a:endParaRPr>
          </a:p>
          <a:p>
            <a:pPr indent="-285750" lvl="0" marL="419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sk">
                <a:solidFill>
                  <a:schemeClr val="dk1"/>
                </a:solidFill>
              </a:rPr>
              <a:t>Comments/Javadocs for complex classes/methods/code.</a:t>
            </a:r>
            <a:endParaRPr>
              <a:solidFill>
                <a:schemeClr val="dk1"/>
              </a:solidFill>
            </a:endParaRPr>
          </a:p>
          <a:p>
            <a:pPr indent="-279400" lvl="0" marL="419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sk">
                <a:solidFill>
                  <a:schemeClr val="dk1"/>
                </a:solidFill>
              </a:rPr>
              <a:t>Additionally (out of scope for semestral projects): </a:t>
            </a:r>
            <a:endParaRPr>
              <a:solidFill>
                <a:schemeClr val="dk1"/>
              </a:solidFill>
            </a:endParaRPr>
          </a:p>
          <a:p>
            <a:pPr indent="-153059" lvl="4" marL="54869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80"/>
              <a:buChar char="○"/>
            </a:pPr>
            <a:r>
              <a:rPr lang="sk">
                <a:solidFill>
                  <a:schemeClr val="dk1"/>
                </a:solidFill>
              </a:rPr>
              <a:t>write tests (unit, UI), </a:t>
            </a:r>
            <a:endParaRPr>
              <a:solidFill>
                <a:schemeClr val="dk1"/>
              </a:solidFill>
            </a:endParaRPr>
          </a:p>
          <a:p>
            <a:pPr indent="-153059" lvl="4" marL="54869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80"/>
              <a:buChar char="○"/>
            </a:pPr>
            <a:r>
              <a:rPr lang="sk">
                <a:solidFill>
                  <a:schemeClr val="dk1"/>
                </a:solidFill>
              </a:rPr>
              <a:t>write documentation - flows, complex algorithms, javadocs in code, user manuals, database structure, network communication diagrams, etc., </a:t>
            </a:r>
            <a:endParaRPr>
              <a:solidFill>
                <a:schemeClr val="dk1"/>
              </a:solidFill>
            </a:endParaRPr>
          </a:p>
          <a:p>
            <a:pPr indent="-153059" lvl="4" marL="54869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80"/>
              <a:buChar char="○"/>
            </a:pPr>
            <a:r>
              <a:rPr lang="sk">
                <a:solidFill>
                  <a:schemeClr val="dk1"/>
                </a:solidFill>
              </a:rPr>
              <a:t>create libraries for parts used in multiple projects (simplify maintenance, speed-up builds)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highlight>
                  <a:srgbClr val="CFE2F3"/>
                </a:highlight>
              </a:rPr>
              <a:t>SW development best practices</a:t>
            </a:r>
            <a:endParaRPr>
              <a:highlight>
                <a:srgbClr val="CFE2F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highlight>
                  <a:srgbClr val="D9EAD3"/>
                </a:highlight>
              </a:rPr>
              <a:t>Android best practices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457821" y="1043512"/>
            <a:ext cx="8229600" cy="2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242E38"/>
                </a:solidFill>
              </a:rPr>
              <a:t>SDK Configuration</a:t>
            </a:r>
            <a:endParaRPr sz="1800">
              <a:solidFill>
                <a:schemeClr val="dk1"/>
              </a:solidFill>
            </a:endParaRPr>
          </a:p>
          <a:p>
            <a:pPr indent="-311150" lvl="0" marL="5715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1" lang="sk" sz="1800">
                <a:solidFill>
                  <a:schemeClr val="accent1"/>
                </a:solidFill>
              </a:rPr>
              <a:t>minSdk</a:t>
            </a:r>
            <a:r>
              <a:rPr lang="sk" sz="1800">
                <a:solidFill>
                  <a:srgbClr val="242E38"/>
                </a:solidFill>
              </a:rPr>
              <a:t>: Defines the minimum supported Android version. When in doubt, use the recommended version. Avoid going too low unless necessary, as it increases development complexity.</a:t>
            </a:r>
            <a:endParaRPr sz="1800">
              <a:solidFill>
                <a:schemeClr val="dk1"/>
              </a:solidFill>
            </a:endParaRPr>
          </a:p>
          <a:p>
            <a:pPr indent="-311150" lvl="0" marL="5715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1" lang="sk" sz="1800">
                <a:solidFill>
                  <a:schemeClr val="accent1"/>
                </a:solidFill>
              </a:rPr>
              <a:t>targetSdk</a:t>
            </a:r>
            <a:r>
              <a:rPr lang="sk" sz="1800">
                <a:solidFill>
                  <a:srgbClr val="242E38"/>
                </a:solidFill>
              </a:rPr>
              <a:t>: Set this to the latest supported version to align with the latest platform features and security updates.</a:t>
            </a:r>
            <a:endParaRPr sz="1800">
              <a:solidFill>
                <a:schemeClr val="dk1"/>
              </a:solidFill>
            </a:endParaRPr>
          </a:p>
          <a:p>
            <a:pPr indent="-311150" lvl="0" marL="5715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1" lang="sk" sz="1800">
                <a:solidFill>
                  <a:schemeClr val="accent1"/>
                </a:solidFill>
              </a:rPr>
              <a:t>compileSdk</a:t>
            </a:r>
            <a:r>
              <a:rPr lang="sk" sz="1800">
                <a:solidFill>
                  <a:srgbClr val="242E38"/>
                </a:solidFill>
              </a:rPr>
              <a:t>: Always use the latest available version for compilation.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2E3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highlight>
                  <a:srgbClr val="D9EAD3"/>
                </a:highlight>
              </a:rPr>
              <a:t>Android best practices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457821" y="1043512"/>
            <a:ext cx="8229600" cy="20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242E38"/>
                </a:solidFill>
              </a:rPr>
              <a:t>Technologies:</a:t>
            </a:r>
            <a:endParaRPr b="1" sz="1800">
              <a:solidFill>
                <a:srgbClr val="242E38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2E38"/>
              </a:buClr>
              <a:buSzPts val="1800"/>
              <a:buChar char="-"/>
            </a:pPr>
            <a:r>
              <a:rPr lang="sk" sz="1800">
                <a:solidFill>
                  <a:srgbClr val="242E38"/>
                </a:solidFill>
                <a:highlight>
                  <a:srgbClr val="D9EAD3"/>
                </a:highlight>
              </a:rPr>
              <a:t>UI</a:t>
            </a:r>
            <a:r>
              <a:rPr lang="sk" sz="1800">
                <a:solidFill>
                  <a:srgbClr val="242E38"/>
                </a:solidFill>
              </a:rPr>
              <a:t>: </a:t>
            </a:r>
            <a:r>
              <a:rPr lang="sk" sz="1800" u="sng">
                <a:solidFill>
                  <a:schemeClr val="hlink"/>
                </a:solidFill>
                <a:hlinkClick r:id="rId3"/>
              </a:rPr>
              <a:t>Jetpack Compose</a:t>
            </a:r>
            <a:endParaRPr sz="1800">
              <a:solidFill>
                <a:srgbClr val="242E38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2E38"/>
              </a:buClr>
              <a:buSzPts val="1800"/>
              <a:buChar char="-"/>
            </a:pPr>
            <a:r>
              <a:rPr lang="sk" sz="1800">
                <a:solidFill>
                  <a:srgbClr val="242E38"/>
                </a:solidFill>
                <a:highlight>
                  <a:srgbClr val="D9EAD3"/>
                </a:highlight>
              </a:rPr>
              <a:t>Dependency Injection</a:t>
            </a:r>
            <a:r>
              <a:rPr lang="sk" sz="1800">
                <a:solidFill>
                  <a:srgbClr val="242E38"/>
                </a:solidFill>
              </a:rPr>
              <a:t>: Handle dependencies manually or use </a:t>
            </a:r>
            <a:r>
              <a:rPr lang="sk" sz="1800" u="sng">
                <a:solidFill>
                  <a:schemeClr val="hlink"/>
                </a:solidFill>
                <a:hlinkClick r:id="rId4"/>
              </a:rPr>
              <a:t>Koin</a:t>
            </a:r>
            <a:r>
              <a:rPr lang="sk" sz="1800">
                <a:solidFill>
                  <a:srgbClr val="242E38"/>
                </a:solidFill>
              </a:rPr>
              <a:t> for simplicity</a:t>
            </a:r>
            <a:endParaRPr sz="1800">
              <a:solidFill>
                <a:srgbClr val="242E38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2E38"/>
              </a:buClr>
              <a:buSzPts val="1800"/>
              <a:buChar char="-"/>
            </a:pPr>
            <a:r>
              <a:rPr lang="sk" sz="1800">
                <a:solidFill>
                  <a:srgbClr val="242E38"/>
                </a:solidFill>
                <a:highlight>
                  <a:srgbClr val="D9EAD3"/>
                </a:highlight>
              </a:rPr>
              <a:t>Image loading</a:t>
            </a:r>
            <a:r>
              <a:rPr lang="sk" sz="1800">
                <a:solidFill>
                  <a:srgbClr val="242E38"/>
                </a:solidFill>
              </a:rPr>
              <a:t>: </a:t>
            </a:r>
            <a:r>
              <a:rPr lang="sk" sz="1800" u="sng">
                <a:solidFill>
                  <a:schemeClr val="hlink"/>
                </a:solidFill>
                <a:hlinkClick r:id="rId5"/>
              </a:rPr>
              <a:t>Coil</a:t>
            </a:r>
            <a:r>
              <a:rPr lang="sk" sz="1800">
                <a:solidFill>
                  <a:srgbClr val="242E38"/>
                </a:solidFill>
              </a:rPr>
              <a:t> or similar</a:t>
            </a:r>
            <a:endParaRPr sz="1800">
              <a:solidFill>
                <a:srgbClr val="242E38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2E38"/>
              </a:buClr>
              <a:buSzPts val="1800"/>
              <a:buChar char="-"/>
            </a:pPr>
            <a:r>
              <a:rPr lang="sk" sz="1800">
                <a:solidFill>
                  <a:srgbClr val="242E38"/>
                </a:solidFill>
                <a:highlight>
                  <a:srgbClr val="D9EAD3"/>
                </a:highlight>
              </a:rPr>
              <a:t>Network communication</a:t>
            </a:r>
            <a:r>
              <a:rPr lang="sk" sz="1800">
                <a:solidFill>
                  <a:srgbClr val="242E38"/>
                </a:solidFill>
              </a:rPr>
              <a:t>: </a:t>
            </a:r>
            <a:r>
              <a:rPr lang="sk" sz="1800" u="sng">
                <a:solidFill>
                  <a:schemeClr val="hlink"/>
                </a:solidFill>
                <a:hlinkClick r:id="rId6"/>
              </a:rPr>
              <a:t>Retrofit</a:t>
            </a:r>
            <a:r>
              <a:rPr lang="sk" sz="1800">
                <a:solidFill>
                  <a:srgbClr val="242E38"/>
                </a:solidFill>
              </a:rPr>
              <a:t> or </a:t>
            </a:r>
            <a:r>
              <a:rPr lang="sk" sz="1800" u="sng">
                <a:solidFill>
                  <a:schemeClr val="hlink"/>
                </a:solidFill>
                <a:hlinkClick r:id="rId7"/>
              </a:rPr>
              <a:t>Ktor</a:t>
            </a:r>
            <a:r>
              <a:rPr lang="sk" sz="1800">
                <a:solidFill>
                  <a:srgbClr val="242E38"/>
                </a:solidFill>
              </a:rPr>
              <a:t> </a:t>
            </a:r>
            <a:endParaRPr sz="1800">
              <a:solidFill>
                <a:srgbClr val="242E38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2E3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sk">
                <a:highlight>
                  <a:srgbClr val="D9EAD3"/>
                </a:highlight>
              </a:rPr>
              <a:t>Android best practices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/>
        </p:nvSpPr>
        <p:spPr>
          <a:xfrm>
            <a:off x="512486" y="1098178"/>
            <a:ext cx="8229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600">
                <a:solidFill>
                  <a:srgbClr val="242E38"/>
                </a:solidFill>
              </a:rPr>
              <a:t>Technologies for persistence</a:t>
            </a:r>
            <a:r>
              <a:rPr b="1" lang="sk" sz="1600">
                <a:solidFill>
                  <a:srgbClr val="242E38"/>
                </a:solidFill>
              </a:rPr>
              <a:t>:</a:t>
            </a:r>
            <a:endParaRPr sz="1600">
              <a:solidFill>
                <a:srgbClr val="242E38"/>
              </a:solidFill>
            </a:endParaRPr>
          </a:p>
          <a:p>
            <a:pPr indent="-2984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Char char="•"/>
            </a:pPr>
            <a:r>
              <a:rPr lang="sk" sz="1600">
                <a:solidFill>
                  <a:srgbClr val="242E38"/>
                </a:solidFill>
              </a:rPr>
              <a:t>Simple primitive values: </a:t>
            </a:r>
            <a:r>
              <a:rPr lang="sk" sz="1600">
                <a:solidFill>
                  <a:srgbClr val="242E38"/>
                </a:solidFill>
                <a:highlight>
                  <a:srgbClr val="D9EAD3"/>
                </a:highlight>
              </a:rPr>
              <a:t>DataStore</a:t>
            </a:r>
            <a:endParaRPr sz="1600">
              <a:solidFill>
                <a:srgbClr val="242E38"/>
              </a:solidFill>
              <a:highlight>
                <a:srgbClr val="D9EAD3"/>
              </a:highlight>
            </a:endParaRPr>
          </a:p>
          <a:p>
            <a:pPr indent="-2984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Char char="•"/>
            </a:pPr>
            <a:r>
              <a:rPr lang="sk" sz="1600">
                <a:solidFill>
                  <a:srgbClr val="242E38"/>
                </a:solidFill>
              </a:rPr>
              <a:t>More complex data and lists: </a:t>
            </a:r>
            <a:r>
              <a:rPr lang="sk" sz="1600">
                <a:solidFill>
                  <a:srgbClr val="242E38"/>
                </a:solidFill>
                <a:highlight>
                  <a:srgbClr val="D9EAD3"/>
                </a:highlight>
              </a:rPr>
              <a:t>Room Database </a:t>
            </a:r>
            <a:endParaRPr sz="1600">
              <a:solidFill>
                <a:srgbClr val="242E38"/>
              </a:solidFill>
              <a:highlight>
                <a:srgbClr val="D9EAD3"/>
              </a:highlight>
            </a:endParaRPr>
          </a:p>
          <a:p>
            <a:pPr indent="-2984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Char char="•"/>
            </a:pPr>
            <a:r>
              <a:rPr lang="sk" sz="1600">
                <a:solidFill>
                  <a:srgbClr val="242E38"/>
                </a:solidFill>
              </a:rPr>
              <a:t>Backup and sharing across different devices/platforms: Server/Cloud services</a:t>
            </a:r>
            <a:endParaRPr sz="1600">
              <a:solidFill>
                <a:srgbClr val="242E38"/>
              </a:solidFill>
            </a:endParaRPr>
          </a:p>
          <a:p>
            <a:pPr indent="-2984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Char char="•"/>
            </a:pPr>
            <a:r>
              <a:rPr lang="sk" sz="1600">
                <a:solidFill>
                  <a:srgbClr val="242E38"/>
                </a:solidFill>
              </a:rPr>
              <a:t>For specific usecases Files can be used (but database or datastore is </a:t>
            </a:r>
            <a:r>
              <a:rPr lang="sk" sz="1600">
                <a:solidFill>
                  <a:srgbClr val="242E38"/>
                </a:solidFill>
              </a:rPr>
              <a:t>preferred</a:t>
            </a:r>
            <a:r>
              <a:rPr lang="sk" sz="1600">
                <a:solidFill>
                  <a:srgbClr val="242E38"/>
                </a:solidFill>
              </a:rPr>
              <a:t> for most cases)</a:t>
            </a:r>
            <a:endParaRPr sz="1600">
              <a:solidFill>
                <a:srgbClr val="242E3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sk">
                <a:highlight>
                  <a:srgbClr val="D9EAD3"/>
                </a:highlight>
              </a:rPr>
              <a:t>Android best practices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/>
        </p:nvSpPr>
        <p:spPr>
          <a:xfrm>
            <a:off x="457821" y="1063391"/>
            <a:ext cx="82296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242E38"/>
                </a:solidFill>
              </a:rPr>
              <a:t>Resources</a:t>
            </a:r>
            <a:r>
              <a:rPr lang="sk" sz="1800">
                <a:solidFill>
                  <a:srgbClr val="242E38"/>
                </a:solidFill>
              </a:rPr>
              <a:t>: </a:t>
            </a:r>
            <a:endParaRPr sz="1800">
              <a:solidFill>
                <a:schemeClr val="dk1"/>
              </a:solidFill>
            </a:endParaRPr>
          </a:p>
          <a:p>
            <a:pPr indent="-311150" lvl="1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800"/>
              <a:buFont typeface="Arial"/>
              <a:buChar char="•"/>
            </a:pPr>
            <a:r>
              <a:rPr i="1" lang="sk" sz="1800" u="none" cap="none" strike="noStrike">
                <a:solidFill>
                  <a:srgbClr val="242E38"/>
                </a:solidFill>
              </a:rPr>
              <a:t>Strings</a:t>
            </a:r>
            <a:r>
              <a:rPr i="0" lang="sk" sz="1800" u="none" cap="none" strike="noStrike">
                <a:solidFill>
                  <a:srgbClr val="242E38"/>
                </a:solidFill>
              </a:rPr>
              <a:t>: Store all application texts (e.g., button labels, messages) in the </a:t>
            </a:r>
            <a:r>
              <a:rPr i="0" lang="sk" sz="1800" u="none" cap="none" strike="noStrike">
                <a:solidFill>
                  <a:srgbClr val="242E38"/>
                </a:solidFill>
                <a:highlight>
                  <a:srgbClr val="D9EAD3"/>
                </a:highlight>
              </a:rPr>
              <a:t>strings.xml</a:t>
            </a:r>
            <a:r>
              <a:rPr i="0" lang="sk" sz="1800" u="none" cap="none" strike="noStrike">
                <a:solidFill>
                  <a:srgbClr val="242E38"/>
                </a:solidFill>
              </a:rPr>
              <a:t> file. This practice aids in maintenance and facilitates providing translations if needed.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-311150" lvl="1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800"/>
              <a:buFont typeface="Arial"/>
              <a:buChar char="•"/>
            </a:pPr>
            <a:r>
              <a:rPr i="1" lang="sk" sz="1800" u="none" cap="none" strike="noStrike">
                <a:solidFill>
                  <a:srgbClr val="242E38"/>
                </a:solidFill>
              </a:rPr>
              <a:t>Images</a:t>
            </a:r>
            <a:r>
              <a:rPr i="0" lang="sk" sz="1800" u="none" cap="none" strike="noStrike">
                <a:solidFill>
                  <a:srgbClr val="242E38"/>
                </a:solidFill>
              </a:rPr>
              <a:t>: Prefer using vector images in XML format for scalability. If using bitmap images, provide multiple sizes (e.g., hdpi, mdpi, xhdpi, etc.) to support various screen densities</a:t>
            </a:r>
            <a:r>
              <a:rPr lang="sk" sz="1800">
                <a:solidFill>
                  <a:srgbClr val="242E38"/>
                </a:solidFill>
              </a:rPr>
              <a:t> </a:t>
            </a:r>
            <a:r>
              <a:rPr lang="sk" sz="1800">
                <a:solidFill>
                  <a:srgbClr val="242E38"/>
                </a:solidFill>
              </a:rPr>
              <a:t>and</a:t>
            </a:r>
            <a:r>
              <a:rPr lang="sk" sz="1800">
                <a:solidFill>
                  <a:srgbClr val="242E38"/>
                </a:solidFill>
              </a:rPr>
              <a:t> keep the size of images low. 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sk">
                <a:highlight>
                  <a:srgbClr val="D9EAD3"/>
                </a:highlight>
              </a:rPr>
              <a:t>Android best practices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23"/>
          <p:cNvSpPr txBox="1"/>
          <p:nvPr/>
        </p:nvSpPr>
        <p:spPr>
          <a:xfrm>
            <a:off x="457821" y="1058420"/>
            <a:ext cx="82296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242E38"/>
                </a:solidFill>
              </a:rPr>
              <a:t>Navigation</a:t>
            </a:r>
            <a:endParaRPr sz="1800">
              <a:solidFill>
                <a:schemeClr val="dk1"/>
              </a:solidFill>
            </a:endParaRPr>
          </a:p>
          <a:p>
            <a:pPr indent="-311150" lvl="0" marL="285750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Char char="•"/>
            </a:pPr>
            <a:r>
              <a:rPr lang="sk" sz="1800">
                <a:solidFill>
                  <a:srgbClr val="242E38"/>
                </a:solidFill>
              </a:rPr>
              <a:t>Test navigation thoroughly to ensure all back buttons and navigation flows work as expected.</a:t>
            </a:r>
            <a:endParaRPr sz="1800">
              <a:solidFill>
                <a:srgbClr val="000000"/>
              </a:solidFill>
            </a:endParaRPr>
          </a:p>
          <a:p>
            <a:pPr indent="-311150" lvl="0" marL="285750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Char char="•"/>
            </a:pPr>
            <a:r>
              <a:rPr lang="sk" sz="1800">
                <a:solidFill>
                  <a:srgbClr val="242E38"/>
                </a:solidFill>
              </a:rPr>
              <a:t>Options for implementing navigation:</a:t>
            </a:r>
            <a:endParaRPr sz="1800">
              <a:solidFill>
                <a:schemeClr val="dk1"/>
              </a:solidFill>
            </a:endParaRPr>
          </a:p>
          <a:p>
            <a:pPr indent="-311150" lvl="1" marL="493395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Font typeface="Arial"/>
              <a:buChar char="•"/>
            </a:pPr>
            <a:r>
              <a:rPr b="1" i="0" lang="sk" sz="1800" u="none" cap="none" strike="noStrike">
                <a:solidFill>
                  <a:srgbClr val="242E38"/>
                </a:solidFill>
              </a:rPr>
              <a:t>Recommended</a:t>
            </a:r>
            <a:r>
              <a:rPr i="0" lang="sk" sz="1800" u="none" cap="none" strike="noStrike">
                <a:solidFill>
                  <a:srgbClr val="242E38"/>
                </a:solidFill>
              </a:rPr>
              <a:t>: Navigation Component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-311150" lvl="1" marL="493395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Font typeface="Arial"/>
              <a:buChar char="•"/>
            </a:pPr>
            <a:r>
              <a:rPr i="0" lang="sk" sz="1800" u="none" cap="none" strike="noStrike">
                <a:solidFill>
                  <a:srgbClr val="242E38"/>
                </a:solidFill>
              </a:rPr>
              <a:t>For navigation between activities: use startActivity(intent)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sk">
                <a:highlight>
                  <a:srgbClr val="D9EAD3"/>
                </a:highlight>
              </a:rPr>
              <a:t>Android best practices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/>
        </p:nvSpPr>
        <p:spPr>
          <a:xfrm>
            <a:off x="512486" y="1098178"/>
            <a:ext cx="8229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600">
                <a:solidFill>
                  <a:srgbClr val="242E38"/>
                </a:solidFill>
              </a:rPr>
              <a:t>MVVM or MVI Architecture</a:t>
            </a:r>
            <a:r>
              <a:rPr lang="sk" sz="1600">
                <a:solidFill>
                  <a:srgbClr val="242E38"/>
                </a:solidFill>
              </a:rPr>
              <a:t>: </a:t>
            </a:r>
            <a:endParaRPr sz="1600">
              <a:solidFill>
                <a:schemeClr val="dk1"/>
              </a:solidFill>
            </a:endParaRPr>
          </a:p>
          <a:p>
            <a:pPr indent="-298450" lvl="1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•"/>
            </a:pPr>
            <a:r>
              <a:rPr i="0" lang="sk" sz="1600" u="none" cap="none" strike="noStrike">
                <a:solidFill>
                  <a:srgbClr val="242E38"/>
                </a:solidFill>
              </a:rPr>
              <a:t>Follow the </a:t>
            </a:r>
            <a:r>
              <a:rPr b="1" i="0" lang="sk" sz="1600" u="none" cap="none" strike="noStrike">
                <a:solidFill>
                  <a:srgbClr val="242E38"/>
                </a:solidFill>
              </a:rPr>
              <a:t>Model-View-ViewModel (MVVM)</a:t>
            </a:r>
            <a:r>
              <a:rPr i="0" lang="sk" sz="1600" u="none" cap="none" strike="noStrike">
                <a:solidFill>
                  <a:srgbClr val="242E38"/>
                </a:solidFill>
              </a:rPr>
              <a:t> or </a:t>
            </a:r>
            <a:r>
              <a:rPr b="1" i="0" lang="sk" sz="1600" u="none" cap="none" strike="noStrike">
                <a:solidFill>
                  <a:srgbClr val="242E38"/>
                </a:solidFill>
              </a:rPr>
              <a:t>MVI (Model-View-Intent) </a:t>
            </a:r>
            <a:r>
              <a:rPr i="0" lang="sk" sz="1600" u="none" cap="none" strike="noStrike">
                <a:solidFill>
                  <a:srgbClr val="242E38"/>
                </a:solidFill>
              </a:rPr>
              <a:t>pattern.</a:t>
            </a:r>
            <a:endParaRPr sz="1600"/>
          </a:p>
          <a:p>
            <a:pPr indent="-298450" lvl="1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Char char="•"/>
            </a:pPr>
            <a:r>
              <a:rPr i="0" lang="sk" sz="1600" u="none" cap="none" strike="noStrike">
                <a:solidFill>
                  <a:srgbClr val="242E38"/>
                </a:solidFill>
              </a:rPr>
              <a:t>Ensure that Activities and Composables contain no business logic. All business logic should reside in ViewModels and </a:t>
            </a:r>
            <a:r>
              <a:rPr lang="sk" sz="1600">
                <a:solidFill>
                  <a:srgbClr val="242E38"/>
                </a:solidFill>
              </a:rPr>
              <a:t>other non-UX components</a:t>
            </a:r>
            <a:r>
              <a:rPr i="0" lang="sk" sz="1600" u="none" cap="none" strike="noStrike">
                <a:solidFill>
                  <a:srgbClr val="242E38"/>
                </a:solidFill>
              </a:rPr>
              <a:t> (e.g. communication with database or API).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sk">
                <a:highlight>
                  <a:srgbClr val="D9EAD3"/>
                </a:highlight>
              </a:rPr>
              <a:t>Android best practices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512486" y="1098178"/>
            <a:ext cx="82296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600">
                <a:solidFill>
                  <a:srgbClr val="242E38"/>
                </a:solidFill>
              </a:rPr>
              <a:t>Concurrency</a:t>
            </a:r>
            <a:r>
              <a:rPr lang="sk" sz="1600">
                <a:solidFill>
                  <a:srgbClr val="242E38"/>
                </a:solidFill>
              </a:rPr>
              <a:t>: </a:t>
            </a:r>
            <a:endParaRPr sz="1600"/>
          </a:p>
          <a:p>
            <a:pPr indent="-2984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•"/>
            </a:pPr>
            <a:r>
              <a:rPr lang="sk" sz="1600">
                <a:solidFill>
                  <a:srgbClr val="242E38"/>
                </a:solidFill>
              </a:rPr>
              <a:t>Following operations </a:t>
            </a:r>
            <a:r>
              <a:rPr b="1" lang="sk" sz="1600">
                <a:solidFill>
                  <a:srgbClr val="C00000"/>
                </a:solidFill>
              </a:rPr>
              <a:t>should NOT</a:t>
            </a:r>
            <a:r>
              <a:rPr b="1" lang="sk" sz="1600">
                <a:solidFill>
                  <a:srgbClr val="C00000"/>
                </a:solidFill>
              </a:rPr>
              <a:t> be done on Main/UI thread.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○"/>
            </a:pPr>
            <a:r>
              <a:rPr lang="sk" sz="1600">
                <a:solidFill>
                  <a:srgbClr val="242E38"/>
                </a:solidFill>
              </a:rPr>
              <a:t>Database access, </a:t>
            </a:r>
            <a:endParaRPr sz="1600">
              <a:solidFill>
                <a:srgbClr val="242E38"/>
              </a:solidFill>
            </a:endParaRPr>
          </a:p>
          <a:p>
            <a: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○"/>
            </a:pPr>
            <a:r>
              <a:rPr lang="sk" sz="1600">
                <a:solidFill>
                  <a:srgbClr val="242E38"/>
                </a:solidFill>
              </a:rPr>
              <a:t>Reading/writing to files, </a:t>
            </a:r>
            <a:endParaRPr sz="1600">
              <a:solidFill>
                <a:srgbClr val="242E38"/>
              </a:solidFill>
            </a:endParaRPr>
          </a:p>
          <a:p>
            <a: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○"/>
            </a:pPr>
            <a:r>
              <a:rPr lang="sk" sz="1600">
                <a:solidFill>
                  <a:srgbClr val="242E38"/>
                </a:solidFill>
              </a:rPr>
              <a:t>DataStore access,</a:t>
            </a:r>
            <a:endParaRPr sz="1600">
              <a:solidFill>
                <a:srgbClr val="242E38"/>
              </a:solidFill>
            </a:endParaRPr>
          </a:p>
          <a:p>
            <a: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○"/>
            </a:pPr>
            <a:r>
              <a:rPr lang="sk" sz="1600">
                <a:solidFill>
                  <a:srgbClr val="242E38"/>
                </a:solidFill>
              </a:rPr>
              <a:t>Server communication, </a:t>
            </a:r>
            <a:endParaRPr sz="1600">
              <a:solidFill>
                <a:srgbClr val="242E38"/>
              </a:solidFill>
            </a:endParaRPr>
          </a:p>
          <a:p>
            <a: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○"/>
            </a:pPr>
            <a:r>
              <a:rPr lang="sk" sz="1600">
                <a:solidFill>
                  <a:srgbClr val="242E38"/>
                </a:solidFill>
              </a:rPr>
              <a:t>Calculations</a:t>
            </a:r>
            <a:endParaRPr sz="1600">
              <a:solidFill>
                <a:srgbClr val="242E38"/>
              </a:solidFill>
            </a:endParaRPr>
          </a:p>
          <a:p>
            <a: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○"/>
            </a:pPr>
            <a:r>
              <a:rPr lang="sk" sz="1600">
                <a:solidFill>
                  <a:srgbClr val="242E38"/>
                </a:solidFill>
              </a:rPr>
              <a:t>AI inference, </a:t>
            </a:r>
            <a:endParaRPr sz="1600">
              <a:solidFill>
                <a:srgbClr val="242E38"/>
              </a:solidFill>
            </a:endParaRPr>
          </a:p>
          <a:p>
            <a: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42E38"/>
              </a:buClr>
              <a:buSzPts val="1600"/>
              <a:buFont typeface="Arial"/>
              <a:buChar char="○"/>
            </a:pPr>
            <a:r>
              <a:rPr lang="sk" sz="1600">
                <a:solidFill>
                  <a:srgbClr val="242E38"/>
                </a:solidFill>
              </a:rPr>
              <a:t>etc. </a:t>
            </a:r>
            <a:endParaRPr sz="1600">
              <a:solidFill>
                <a:srgbClr val="242E38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sk" sz="1600">
                <a:solidFill>
                  <a:schemeClr val="dk1"/>
                </a:solidFill>
              </a:rPr>
              <a:t>Options: </a:t>
            </a:r>
            <a:r>
              <a:rPr lang="sk" sz="1600">
                <a:solidFill>
                  <a:schemeClr val="dk1"/>
                </a:solidFill>
                <a:highlight>
                  <a:srgbClr val="D9EAD3"/>
                </a:highlight>
              </a:rPr>
              <a:t>Coroutines</a:t>
            </a:r>
            <a:r>
              <a:rPr lang="sk" sz="1600">
                <a:solidFill>
                  <a:schemeClr val="dk1"/>
                </a:solidFill>
              </a:rPr>
              <a:t> (recommended), Handler, Threads, etc.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457200" y="226792"/>
            <a:ext cx="822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sk">
                <a:highlight>
                  <a:srgbClr val="D9EAD3"/>
                </a:highlight>
              </a:rPr>
              <a:t>Android best practices</a:t>
            </a:r>
            <a:endParaRPr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7" name="Google Shape;137;p26"/>
          <p:cNvSpPr txBox="1"/>
          <p:nvPr/>
        </p:nvSpPr>
        <p:spPr>
          <a:xfrm>
            <a:off x="457820" y="1068359"/>
            <a:ext cx="82296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242E38"/>
                </a:solidFill>
              </a:rPr>
              <a:t>Configuration Changes</a:t>
            </a:r>
            <a:endParaRPr sz="1800">
              <a:solidFill>
                <a:schemeClr val="dk1"/>
              </a:solidFill>
            </a:endParaRPr>
          </a:p>
          <a:p>
            <a:pPr indent="-311150" lvl="0" marL="285750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Char char="•"/>
            </a:pPr>
            <a:r>
              <a:rPr lang="sk" sz="1800">
                <a:solidFill>
                  <a:srgbClr val="242E38"/>
                </a:solidFill>
              </a:rPr>
              <a:t>Ensure the app handles configuration changes (e.g. device rotation, light/dark theme switch or language changes)</a:t>
            </a:r>
            <a:endParaRPr sz="1800">
              <a:solidFill>
                <a:schemeClr val="dk1"/>
              </a:solidFill>
            </a:endParaRPr>
          </a:p>
          <a:p>
            <a:pPr indent="-311150" lvl="0" marL="285750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Font typeface="Arial"/>
              <a:buChar char="•"/>
            </a:pPr>
            <a:r>
              <a:rPr lang="sk" sz="1800">
                <a:solidFill>
                  <a:srgbClr val="242E38"/>
                </a:solidFill>
              </a:rPr>
              <a:t>Preserve the screen's state during configuration changes using </a:t>
            </a:r>
            <a:r>
              <a:rPr lang="sk" sz="1800">
                <a:solidFill>
                  <a:srgbClr val="242E38"/>
                </a:solidFill>
                <a:highlight>
                  <a:srgbClr val="D9EAD3"/>
                </a:highlight>
              </a:rPr>
              <a:t>ViewModel</a:t>
            </a:r>
            <a:r>
              <a:rPr lang="sk" sz="1800">
                <a:solidFill>
                  <a:srgbClr val="242E38"/>
                </a:solidFill>
              </a:rPr>
              <a:t>, </a:t>
            </a:r>
            <a:r>
              <a:rPr lang="sk" sz="1800">
                <a:solidFill>
                  <a:srgbClr val="242E38"/>
                </a:solidFill>
                <a:highlight>
                  <a:srgbClr val="D9EAD3"/>
                </a:highlight>
              </a:rPr>
              <a:t>rememberSaveable</a:t>
            </a:r>
            <a:r>
              <a:rPr lang="sk" sz="1800">
                <a:solidFill>
                  <a:srgbClr val="242E38"/>
                </a:solidFill>
              </a:rPr>
              <a:t> in Compose or </a:t>
            </a:r>
            <a:r>
              <a:rPr lang="sk" sz="1800">
                <a:solidFill>
                  <a:srgbClr val="242E38"/>
                </a:solidFill>
                <a:highlight>
                  <a:srgbClr val="D9EAD3"/>
                </a:highlight>
              </a:rPr>
              <a:t>onSavedInstanceState</a:t>
            </a:r>
            <a:r>
              <a:rPr lang="sk" sz="1800">
                <a:solidFill>
                  <a:srgbClr val="242E38"/>
                </a:solidFill>
              </a:rPr>
              <a:t> callback in Activity</a:t>
            </a:r>
            <a:endParaRPr sz="1800">
              <a:solidFill>
                <a:srgbClr val="000000"/>
              </a:solidFill>
            </a:endParaRPr>
          </a:p>
          <a:p>
            <a:pPr indent="-311150" lvl="0" marL="285750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Char char="•"/>
            </a:pPr>
            <a:r>
              <a:rPr b="1" lang="sk" sz="1800">
                <a:solidFill>
                  <a:srgbClr val="242E38"/>
                </a:solidFill>
              </a:rPr>
              <a:t>Common issues to address:</a:t>
            </a:r>
            <a:endParaRPr b="1" sz="1800">
              <a:solidFill>
                <a:schemeClr val="dk1"/>
              </a:solidFill>
            </a:endParaRPr>
          </a:p>
          <a:p>
            <a:pPr indent="-311150" lvl="1" marL="493395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Char char="•"/>
            </a:pPr>
            <a:r>
              <a:rPr i="0" lang="sk" sz="1800" u="none" cap="none" strike="noStrike">
                <a:solidFill>
                  <a:srgbClr val="242E38"/>
                </a:solidFill>
              </a:rPr>
              <a:t>Prevent losing user input in fields during config changes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11150" lvl="1" marL="493395" marR="0" rtl="0" algn="l">
              <a:spcBef>
                <a:spcPts val="500"/>
              </a:spcBef>
              <a:spcAft>
                <a:spcPts val="0"/>
              </a:spcAft>
              <a:buClr>
                <a:srgbClr val="242E38"/>
              </a:buClr>
              <a:buSzPts val="1800"/>
              <a:buChar char="•"/>
            </a:pPr>
            <a:r>
              <a:rPr i="0" lang="sk" sz="1800" u="none" cap="none" strike="noStrike">
                <a:solidFill>
                  <a:srgbClr val="242E38"/>
                </a:solidFill>
              </a:rPr>
              <a:t>Prevent reloading data during config changes</a:t>
            </a:r>
            <a:endParaRPr sz="18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242E3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